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140399-17EB-4CCA-A577-D2DAA892C256}" v="1" dt="2026-01-20T16:47:31.4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0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renzo Albani" userId="f3197290-ef93-4b3d-a5a8-d01d46dd5273" providerId="ADAL" clId="{4709093D-41D4-4F0E-AC9C-1D262D9F6FBD}"/>
    <pc:docChg chg="undo redo custSel modSld">
      <pc:chgData name="Lorenzo Albani" userId="f3197290-ef93-4b3d-a5a8-d01d46dd5273" providerId="ADAL" clId="{4709093D-41D4-4F0E-AC9C-1D262D9F6FBD}" dt="2026-01-21T14:26:52.970" v="403" actId="113"/>
      <pc:docMkLst>
        <pc:docMk/>
      </pc:docMkLst>
      <pc:sldChg chg="delSp modSp mod">
        <pc:chgData name="Lorenzo Albani" userId="f3197290-ef93-4b3d-a5a8-d01d46dd5273" providerId="ADAL" clId="{4709093D-41D4-4F0E-AC9C-1D262D9F6FBD}" dt="2026-01-21T14:17:21.478" v="298" actId="113"/>
        <pc:sldMkLst>
          <pc:docMk/>
          <pc:sldMk cId="0" sldId="256"/>
        </pc:sldMkLst>
        <pc:spChg chg="mod">
          <ac:chgData name="Lorenzo Albani" userId="f3197290-ef93-4b3d-a5a8-d01d46dd5273" providerId="ADAL" clId="{4709093D-41D4-4F0E-AC9C-1D262D9F6FBD}" dt="2026-01-21T14:17:21.478" v="298" actId="113"/>
          <ac:spMkLst>
            <pc:docMk/>
            <pc:sldMk cId="0" sldId="256"/>
            <ac:spMk id="55" creationId="{00000000-0000-0000-0000-000000000000}"/>
          </ac:spMkLst>
        </pc:spChg>
        <pc:spChg chg="del">
          <ac:chgData name="Lorenzo Albani" userId="f3197290-ef93-4b3d-a5a8-d01d46dd5273" providerId="ADAL" clId="{4709093D-41D4-4F0E-AC9C-1D262D9F6FBD}" dt="2026-01-20T16:46:21.320" v="55" actId="478"/>
          <ac:spMkLst>
            <pc:docMk/>
            <pc:sldMk cId="0" sldId="256"/>
            <ac:spMk id="58" creationId="{00000000-0000-0000-0000-000000000000}"/>
          </ac:spMkLst>
        </pc:spChg>
        <pc:spChg chg="del mod">
          <ac:chgData name="Lorenzo Albani" userId="f3197290-ef93-4b3d-a5a8-d01d46dd5273" providerId="ADAL" clId="{4709093D-41D4-4F0E-AC9C-1D262D9F6FBD}" dt="2026-01-20T16:46:23.339" v="56" actId="478"/>
          <ac:spMkLst>
            <pc:docMk/>
            <pc:sldMk cId="0" sldId="256"/>
            <ac:spMk id="59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2:43.778" v="306" actId="113"/>
        <pc:sldMkLst>
          <pc:docMk/>
          <pc:sldMk cId="0" sldId="257"/>
        </pc:sldMkLst>
        <pc:spChg chg="mod">
          <ac:chgData name="Lorenzo Albani" userId="f3197290-ef93-4b3d-a5a8-d01d46dd5273" providerId="ADAL" clId="{4709093D-41D4-4F0E-AC9C-1D262D9F6FBD}" dt="2026-01-21T14:22:43.778" v="306" actId="113"/>
          <ac:spMkLst>
            <pc:docMk/>
            <pc:sldMk cId="0" sldId="257"/>
            <ac:spMk id="66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2:53.034" v="314" actId="113"/>
        <pc:sldMkLst>
          <pc:docMk/>
          <pc:sldMk cId="0" sldId="258"/>
        </pc:sldMkLst>
        <pc:spChg chg="mod">
          <ac:chgData name="Lorenzo Albani" userId="f3197290-ef93-4b3d-a5a8-d01d46dd5273" providerId="ADAL" clId="{4709093D-41D4-4F0E-AC9C-1D262D9F6FBD}" dt="2026-01-21T14:22:53.034" v="314" actId="113"/>
          <ac:spMkLst>
            <pc:docMk/>
            <pc:sldMk cId="0" sldId="258"/>
            <ac:spMk id="73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2:57.763" v="322" actId="113"/>
        <pc:sldMkLst>
          <pc:docMk/>
          <pc:sldMk cId="0" sldId="259"/>
        </pc:sldMkLst>
        <pc:spChg chg="mod">
          <ac:chgData name="Lorenzo Albani" userId="f3197290-ef93-4b3d-a5a8-d01d46dd5273" providerId="ADAL" clId="{4709093D-41D4-4F0E-AC9C-1D262D9F6FBD}" dt="2026-01-21T14:22:57.763" v="322" actId="113"/>
          <ac:spMkLst>
            <pc:docMk/>
            <pc:sldMk cId="0" sldId="259"/>
            <ac:spMk id="83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5:39.065" v="330" actId="113"/>
        <pc:sldMkLst>
          <pc:docMk/>
          <pc:sldMk cId="0" sldId="260"/>
        </pc:sldMkLst>
        <pc:spChg chg="mod">
          <ac:chgData name="Lorenzo Albani" userId="f3197290-ef93-4b3d-a5a8-d01d46dd5273" providerId="ADAL" clId="{4709093D-41D4-4F0E-AC9C-1D262D9F6FBD}" dt="2026-01-21T14:25:39.065" v="330" actId="113"/>
          <ac:spMkLst>
            <pc:docMk/>
            <pc:sldMk cId="0" sldId="260"/>
            <ac:spMk id="91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02.658" v="343" actId="113"/>
        <pc:sldMkLst>
          <pc:docMk/>
          <pc:sldMk cId="0" sldId="261"/>
        </pc:sldMkLst>
        <pc:spChg chg="mod">
          <ac:chgData name="Lorenzo Albani" userId="f3197290-ef93-4b3d-a5a8-d01d46dd5273" providerId="ADAL" clId="{4709093D-41D4-4F0E-AC9C-1D262D9F6FBD}" dt="2026-01-21T14:26:02.658" v="343" actId="113"/>
          <ac:spMkLst>
            <pc:docMk/>
            <pc:sldMk cId="0" sldId="261"/>
            <ac:spMk id="99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10.425" v="351" actId="113"/>
        <pc:sldMkLst>
          <pc:docMk/>
          <pc:sldMk cId="0" sldId="262"/>
        </pc:sldMkLst>
        <pc:spChg chg="mod">
          <ac:chgData name="Lorenzo Albani" userId="f3197290-ef93-4b3d-a5a8-d01d46dd5273" providerId="ADAL" clId="{4709093D-41D4-4F0E-AC9C-1D262D9F6FBD}" dt="2026-01-21T14:26:10.425" v="351" actId="113"/>
          <ac:spMkLst>
            <pc:docMk/>
            <pc:sldMk cId="0" sldId="262"/>
            <ac:spMk id="106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17.601" v="359" actId="113"/>
        <pc:sldMkLst>
          <pc:docMk/>
          <pc:sldMk cId="0" sldId="263"/>
        </pc:sldMkLst>
        <pc:spChg chg="mod">
          <ac:chgData name="Lorenzo Albani" userId="f3197290-ef93-4b3d-a5a8-d01d46dd5273" providerId="ADAL" clId="{4709093D-41D4-4F0E-AC9C-1D262D9F6FBD}" dt="2026-01-21T14:26:17.601" v="359" actId="113"/>
          <ac:spMkLst>
            <pc:docMk/>
            <pc:sldMk cId="0" sldId="263"/>
            <ac:spMk id="114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25.506" v="371" actId="113"/>
        <pc:sldMkLst>
          <pc:docMk/>
          <pc:sldMk cId="0" sldId="264"/>
        </pc:sldMkLst>
        <pc:spChg chg="mod">
          <ac:chgData name="Lorenzo Albani" userId="f3197290-ef93-4b3d-a5a8-d01d46dd5273" providerId="ADAL" clId="{4709093D-41D4-4F0E-AC9C-1D262D9F6FBD}" dt="2026-01-21T14:26:25.506" v="371" actId="113"/>
          <ac:spMkLst>
            <pc:docMk/>
            <pc:sldMk cId="0" sldId="264"/>
            <ac:spMk id="121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30.778" v="379" actId="113"/>
        <pc:sldMkLst>
          <pc:docMk/>
          <pc:sldMk cId="0" sldId="265"/>
        </pc:sldMkLst>
        <pc:spChg chg="mod">
          <ac:chgData name="Lorenzo Albani" userId="f3197290-ef93-4b3d-a5a8-d01d46dd5273" providerId="ADAL" clId="{4709093D-41D4-4F0E-AC9C-1D262D9F6FBD}" dt="2026-01-21T14:26:30.778" v="379" actId="113"/>
          <ac:spMkLst>
            <pc:docMk/>
            <pc:sldMk cId="0" sldId="265"/>
            <ac:spMk id="128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38.219" v="387" actId="113"/>
        <pc:sldMkLst>
          <pc:docMk/>
          <pc:sldMk cId="0" sldId="266"/>
        </pc:sldMkLst>
        <pc:spChg chg="mod">
          <ac:chgData name="Lorenzo Albani" userId="f3197290-ef93-4b3d-a5a8-d01d46dd5273" providerId="ADAL" clId="{4709093D-41D4-4F0E-AC9C-1D262D9F6FBD}" dt="2026-01-21T14:26:38.219" v="387" actId="113"/>
          <ac:spMkLst>
            <pc:docMk/>
            <pc:sldMk cId="0" sldId="266"/>
            <ac:spMk id="135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43.354" v="395" actId="113"/>
        <pc:sldMkLst>
          <pc:docMk/>
          <pc:sldMk cId="0" sldId="267"/>
        </pc:sldMkLst>
        <pc:spChg chg="mod">
          <ac:chgData name="Lorenzo Albani" userId="f3197290-ef93-4b3d-a5a8-d01d46dd5273" providerId="ADAL" clId="{4709093D-41D4-4F0E-AC9C-1D262D9F6FBD}" dt="2026-01-21T14:26:43.354" v="395" actId="113"/>
          <ac:spMkLst>
            <pc:docMk/>
            <pc:sldMk cId="0" sldId="267"/>
            <ac:spMk id="142" creationId="{00000000-0000-0000-0000-000000000000}"/>
          </ac:spMkLst>
        </pc:spChg>
      </pc:sldChg>
      <pc:sldChg chg="modSp mod">
        <pc:chgData name="Lorenzo Albani" userId="f3197290-ef93-4b3d-a5a8-d01d46dd5273" providerId="ADAL" clId="{4709093D-41D4-4F0E-AC9C-1D262D9F6FBD}" dt="2026-01-21T14:26:52.970" v="403" actId="113"/>
        <pc:sldMkLst>
          <pc:docMk/>
          <pc:sldMk cId="0" sldId="268"/>
        </pc:sldMkLst>
        <pc:spChg chg="mod">
          <ac:chgData name="Lorenzo Albani" userId="f3197290-ef93-4b3d-a5a8-d01d46dd5273" providerId="ADAL" clId="{4709093D-41D4-4F0E-AC9C-1D262D9F6FBD}" dt="2026-01-21T14:26:52.970" v="403" actId="113"/>
          <ac:spMkLst>
            <pc:docMk/>
            <pc:sldMk cId="0" sldId="268"/>
            <ac:spMk id="14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.albani2@studenti.unipi.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428525"/>
            <a:ext cx="8520600" cy="13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 b="1" dirty="0"/>
              <a:t>ML 2025 Project </a:t>
            </a:r>
            <a:endParaRPr b="1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7451"/>
              <a:buNone/>
            </a:pPr>
            <a:r>
              <a:rPr lang="it" sz="4533"/>
              <a:t>Slides demo (</a:t>
            </a:r>
            <a:r>
              <a:rPr lang="it" sz="4200"/>
              <a:t>v0.1</a:t>
            </a:r>
            <a:r>
              <a:rPr lang="it" sz="4533"/>
              <a:t>)</a:t>
            </a:r>
            <a:r>
              <a:rPr lang="it" sz="4977"/>
              <a:t> </a:t>
            </a:r>
            <a:endParaRPr sz="4977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676100"/>
            <a:ext cx="84162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</a:rPr>
              <a:t>Albani Lorenzo, Maitino Tommaso, Roselli Riccardo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r>
              <a:rPr lang="it" sz="1520" b="1" dirty="0">
                <a:solidFill>
                  <a:schemeClr val="dk1"/>
                </a:solidFill>
              </a:rPr>
              <a:t>«I Cavalli» Team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  <a:buSzPts val="440"/>
              <a:buNone/>
            </a:pPr>
            <a:br>
              <a:rPr lang="it" sz="1520" dirty="0">
                <a:solidFill>
                  <a:schemeClr val="dk1"/>
                </a:solidFill>
              </a:rPr>
            </a:br>
            <a:r>
              <a:rPr lang="it" sz="1520" dirty="0">
                <a:solidFill>
                  <a:schemeClr val="dk1"/>
                </a:solidFill>
              </a:rPr>
              <a:t> Students from Data Science and Business Informatics</a:t>
            </a: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lang="it" sz="1520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  <a:hlinkClick r:id="rId3"/>
              </a:rPr>
              <a:t>l.albani2@studenti.unipi.it</a:t>
            </a:r>
            <a:r>
              <a:rPr lang="it" sz="1520" dirty="0">
                <a:solidFill>
                  <a:schemeClr val="dk1"/>
                </a:solidFill>
              </a:rPr>
              <a:t>, email tommy, email gym riccardo</a:t>
            </a:r>
            <a:endParaRPr sz="1253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933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it" sz="1520" dirty="0">
                <a:solidFill>
                  <a:schemeClr val="dk1"/>
                </a:solidFill>
              </a:rPr>
              <a:t>Date xx/yy/xyzz</a:t>
            </a:r>
            <a:endParaRPr sz="1200"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520" dirty="0">
                <a:solidFill>
                  <a:schemeClr val="dk1"/>
                </a:solidFill>
              </a:rPr>
              <a:t>Type of project: </a:t>
            </a:r>
            <a:r>
              <a:rPr lang="it" sz="1520" b="1" dirty="0">
                <a:solidFill>
                  <a:schemeClr val="dk1"/>
                </a:solidFill>
              </a:rPr>
              <a:t>A</a:t>
            </a:r>
            <a:endParaRPr sz="1520" b="1" dirty="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endParaRPr sz="1200" b="1" i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57525" y="51773"/>
            <a:ext cx="889425" cy="9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253725" y="2340900"/>
            <a:ext cx="727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Objectives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Describe/define in this slide your aim (in short): see section 1 of the file “ML-25-Report-info-...” for details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lang="it">
                <a:solidFill>
                  <a:schemeClr val="dk1"/>
                </a:solidFill>
              </a:rPr>
              <a:t>Slides general notes:</a:t>
            </a:r>
            <a:endParaRPr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the lecture notes on the PRJ (ML-25-PRJ-...)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Read also the document  “ML-25-Report-info-...” for further info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In particular follow the</a:t>
            </a:r>
            <a:r>
              <a:rPr lang="it" sz="1600">
                <a:solidFill>
                  <a:srgbClr val="FF0000"/>
                </a:solidFill>
              </a:rPr>
              <a:t> [*]</a:t>
            </a:r>
            <a:r>
              <a:rPr lang="it" sz="1600">
                <a:solidFill>
                  <a:schemeClr val="dk1"/>
                </a:solidFill>
              </a:rPr>
              <a:t> sign that denotes “</a:t>
            </a:r>
            <a:r>
              <a:rPr lang="it" sz="1600" i="1">
                <a:solidFill>
                  <a:srgbClr val="FF0000"/>
                </a:solidFill>
              </a:rPr>
              <a:t>Lack of results in this part invalidates the report</a:t>
            </a:r>
            <a:r>
              <a:rPr lang="it" sz="1600">
                <a:solidFill>
                  <a:schemeClr val="dk1"/>
                </a:solidFill>
              </a:rPr>
              <a:t>”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Char char="●"/>
            </a:pPr>
            <a:r>
              <a:rPr lang="it" sz="1600">
                <a:solidFill>
                  <a:schemeClr val="dk1"/>
                </a:solidFill>
              </a:rPr>
              <a:t>You can change the colors/font of the slides etc according to your preference (within the specified  limits in the lecture)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2</a:t>
            </a:fld>
            <a:endParaRPr sz="16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Your contributions (may be more slides, but be schematic)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Code description, in short </a:t>
            </a:r>
            <a:r>
              <a:rPr lang="it" sz="1600">
                <a:solidFill>
                  <a:schemeClr val="dk1"/>
                </a:solidFill>
              </a:rPr>
              <a:t>(see the file “ML-25-Report-info-...”)</a:t>
            </a:r>
            <a:endParaRPr sz="16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Necessary features for the model implementation and the CUP application </a:t>
            </a:r>
            <a:r>
              <a:rPr lang="it" sz="1600">
                <a:solidFill>
                  <a:schemeClr val="dk1"/>
                </a:solidFill>
              </a:rPr>
              <a:t>(see the file “ML-25-Report-info-...”: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note, for the CUP application)</a:t>
            </a:r>
            <a:r>
              <a:rPr lang="it">
                <a:solidFill>
                  <a:schemeClr val="dk1"/>
                </a:solidFill>
              </a:rPr>
              <a:t>:</a:t>
            </a:r>
            <a:r>
              <a:rPr lang="it"/>
              <a:t> 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3</a:t>
            </a:fld>
            <a:endParaRPr sz="1600" b="1"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70850" y="2185375"/>
            <a:ext cx="3301800" cy="244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Models/Architecture/s (and numb. of layers for 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activation function/s (NN)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Type of training algorithm/s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-"/>
            </a:pPr>
            <a:r>
              <a:rPr lang="it" sz="1200">
                <a:solidFill>
                  <a:srgbClr val="000000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Batch/on-line/mb</a:t>
            </a:r>
            <a:endParaRPr sz="1200">
              <a:solidFill>
                <a:srgbClr val="000000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4216725" y="2161150"/>
            <a:ext cx="3626700" cy="24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Initialization of NN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Regularization schema/s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-"/>
            </a:pPr>
            <a:r>
              <a:rPr lang="it" sz="1200">
                <a:solidFill>
                  <a:schemeClr val="dk1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Stop condition/s</a:t>
            </a: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200">
              <a:solidFill>
                <a:schemeClr val="dk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217375" y="4107175"/>
            <a:ext cx="6121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it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 schematic: facts (by techniques names) and numbers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Models Novelties (may be more slides)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lang="it" b="1">
                <a:solidFill>
                  <a:schemeClr val="dk1"/>
                </a:solidFill>
              </a:rPr>
              <a:t>novelties</a:t>
            </a:r>
            <a:r>
              <a:rPr lang="it">
                <a:solidFill>
                  <a:schemeClr val="dk1"/>
                </a:solidFill>
              </a:rPr>
              <a:t> in your model/approach/techniques/implementation (if any) outside the standard approaches (i.e. beyond  the necessary features/ordinary techniques specified in the previous slide). </a:t>
            </a:r>
            <a:endParaRPr/>
          </a:p>
          <a:p>
            <a:pPr marL="74295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Remember to support them by comparions/evidences in the experimental part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4</a:t>
            </a:fld>
            <a:endParaRPr sz="16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1 (may be more slides, but be schematic)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 sz="1100">
                <a:solidFill>
                  <a:schemeClr val="dk1"/>
                </a:solidFill>
              </a:rPr>
              <a:t>-</a:t>
            </a:r>
            <a:r>
              <a:rPr lang="it" sz="700">
                <a:solidFill>
                  <a:schemeClr val="dk1"/>
                </a:solidFill>
              </a:rPr>
              <a:t>      </a:t>
            </a:r>
            <a:r>
              <a:rPr lang="it" sz="1400">
                <a:solidFill>
                  <a:schemeClr val="dk1"/>
                </a:solidFill>
              </a:rPr>
              <a:t> Performance (see Table 1) and learning curves (MSE and accuracy plots for the 3 MONK’s tasks, see the next slide as an example of schema filled with the plot for the MONK2)</a:t>
            </a:r>
            <a:endParaRPr sz="1400">
              <a:solidFill>
                <a:schemeClr val="dk1"/>
              </a:solidFill>
            </a:endParaRPr>
          </a:p>
          <a:p>
            <a:pPr marL="584200" lvl="0" indent="-228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400">
                <a:solidFill>
                  <a:schemeClr val="dk1"/>
                </a:solidFill>
              </a:rPr>
              <a:t>-    Used hyper-parameters </a:t>
            </a:r>
            <a:r>
              <a:rPr lang="it" sz="1300">
                <a:solidFill>
                  <a:schemeClr val="dk1"/>
                </a:solidFill>
              </a:rPr>
              <a:t>(including activation functions), please use the notation used in the course and not the notations of libraries etc, or you have to explain  (prj B)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8400" y="2653473"/>
            <a:ext cx="6739200" cy="1730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5</a:t>
            </a:fld>
            <a:endParaRPr sz="1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Monk Results 2 (may be more slides, but be schematic)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9575" y="1152475"/>
            <a:ext cx="6031974" cy="3601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6</a:t>
            </a:fld>
            <a:endParaRPr sz="1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Validation schema: data splitting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1-2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Which schema have you used for model selection and model assessment? 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Validation schema can be easily reported in a graphical form, e.g.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it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>
                <a:solidFill>
                  <a:schemeClr val="dk1"/>
                </a:solidFill>
              </a:rPr>
              <a:t>Have you a final retraining?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7</a:t>
            </a:fld>
            <a:endParaRPr sz="1600" b="1"/>
          </a:p>
        </p:txBody>
      </p:sp>
      <p:pic>
        <p:nvPicPr>
          <p:cNvPr id="107" name="Google Shape;1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3050" y="2333500"/>
            <a:ext cx="4424625" cy="62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it"/>
              <a:t>CUP Validation schema: model selection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2-3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t">
                <a:solidFill>
                  <a:schemeClr val="dk1"/>
                </a:solidFill>
              </a:rPr>
              <a:t>Schema and range of explored hyper-parameters (values used for the grid search, possibly table/tables): </a:t>
            </a:r>
            <a:r>
              <a:rPr lang="it" sz="1600">
                <a:solidFill>
                  <a:schemeClr val="dk1"/>
                </a:solidFill>
              </a:rPr>
              <a:t>see the file “ML-25-Report-info-...” and also the </a:t>
            </a:r>
            <a:r>
              <a:rPr lang="it" sz="1600" i="1">
                <a:solidFill>
                  <a:schemeClr val="dk1"/>
                </a:solidFill>
              </a:rPr>
              <a:t>check list</a:t>
            </a:r>
            <a:r>
              <a:rPr lang="it" sz="1600">
                <a:solidFill>
                  <a:schemeClr val="dk1"/>
                </a:solidFill>
              </a:rPr>
              <a:t> note on the “Model selection”, for the CUP application</a:t>
            </a:r>
            <a:endParaRPr sz="16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it" sz="1400">
                <a:solidFill>
                  <a:schemeClr val="dk1"/>
                </a:solidFill>
              </a:rPr>
              <a:t>The synthesis of the hyperparameters setting must be reported on the slides, while a complete description can be inserted in a document within the code package (call it “hyperparameters-setting”) and in the Appendix slides (selecting what is more relevant). 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4" name="Google Shape;11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8</a:t>
            </a:fld>
            <a:endParaRPr sz="16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CUP Results (many slides are possible)</a:t>
            </a:r>
            <a:endParaRPr/>
          </a:p>
        </p:txBody>
      </p:sp>
      <p:sp>
        <p:nvSpPr>
          <p:cNvPr id="120" name="Google Shape;12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Typically the points 4-9 of the section 3.2 o</a:t>
            </a:r>
            <a:r>
              <a:rPr lang="it"/>
              <a:t>f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>
                <a:solidFill>
                  <a:schemeClr val="dk1"/>
                </a:solidFill>
              </a:rPr>
              <a:t>In particular, do not forget:</a:t>
            </a:r>
            <a:endParaRPr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describe “</a:t>
            </a:r>
            <a:r>
              <a:rPr lang="it" sz="1500" b="1">
                <a:solidFill>
                  <a:schemeClr val="dk1"/>
                </a:solidFill>
              </a:rPr>
              <a:t>your path</a:t>
            </a:r>
            <a:r>
              <a:rPr lang="it" sz="1500">
                <a:solidFill>
                  <a:schemeClr val="dk1"/>
                </a:solidFill>
              </a:rPr>
              <a:t>” to reach your final model, i.e. the relevant choices that you made and the rational of that choices  (selecting the relevant decisions &amp; aspects that deserve to be described  according to your feeling)</a:t>
            </a:r>
            <a:endParaRPr sz="1500">
              <a:solidFill>
                <a:schemeClr val="dk1"/>
              </a:solidFill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it" sz="1500">
                <a:solidFill>
                  <a:schemeClr val="dk1"/>
                </a:solidFill>
              </a:rPr>
              <a:t>to specify </a:t>
            </a:r>
            <a:r>
              <a:rPr lang="it" sz="1500" b="1">
                <a:solidFill>
                  <a:schemeClr val="dk1"/>
                </a:solidFill>
              </a:rPr>
              <a:t>how </a:t>
            </a:r>
            <a:r>
              <a:rPr lang="it" sz="1500">
                <a:solidFill>
                  <a:schemeClr val="dk1"/>
                </a:solidFill>
              </a:rPr>
              <a:t>you selected the </a:t>
            </a:r>
            <a:r>
              <a:rPr lang="it" sz="1500" b="1">
                <a:solidFill>
                  <a:schemeClr val="dk1"/>
                </a:solidFill>
              </a:rPr>
              <a:t>FINAL model </a:t>
            </a:r>
            <a:r>
              <a:rPr lang="it" sz="1500">
                <a:solidFill>
                  <a:schemeClr val="dk1"/>
                </a:solidFill>
              </a:rPr>
              <a:t>(used on the blind test set). Which is it among the candidates and why? Also write the  hyper-parameters of the final model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for the FINAL model used on the blind test set the </a:t>
            </a:r>
            <a:r>
              <a:rPr lang="it" sz="1500" b="1">
                <a:solidFill>
                  <a:schemeClr val="dk1"/>
                </a:solidFill>
              </a:rPr>
              <a:t>TABLE with MEE for TR (training), VL (validation) and TS (internal TS)  in the original scale</a:t>
            </a:r>
            <a:endParaRPr sz="1500" b="1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it" sz="1500">
                <a:solidFill>
                  <a:schemeClr val="dk1"/>
                </a:solidFill>
              </a:rPr>
              <a:t>to report the </a:t>
            </a:r>
            <a:r>
              <a:rPr lang="it" sz="1500" b="1">
                <a:solidFill>
                  <a:schemeClr val="dk1"/>
                </a:solidFill>
              </a:rPr>
              <a:t>plot of the learning curve of the final model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9</a:t>
            </a:fld>
            <a:endParaRPr sz="16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Discussion (may be more slides)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 b="1">
                <a:solidFill>
                  <a:schemeClr val="dk1"/>
                </a:solidFill>
              </a:rPr>
              <a:t>Discuss/analyze </a:t>
            </a:r>
            <a:r>
              <a:rPr lang="it">
                <a:solidFill>
                  <a:schemeClr val="dk1"/>
                </a:solidFill>
              </a:rPr>
              <a:t>whether any proposed techniques or novelties improved or not the results, in terms of any performance (efficacy, efficiency, …)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to empathize the novelties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you introduced in your model (prj A or B) or used advanced techniques (prj B) w.r.t. to the results and/or any significant/critical analyses and any interesting finding/insight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I.e: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don’t forget a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Discussion/Analysis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of interesting findings/insights,</a:t>
            </a:r>
            <a:r>
              <a:rPr lang="it" sz="1400"/>
              <a:t>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answering “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did you learn?” 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Models/Hyperparameters/Results/Efficacy/Efficiency, selecting/highlighting what is more significant in your opinion (time and space constraints help to select!)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concrete measured </a:t>
            </a:r>
            <a:r>
              <a:rPr lang="it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evidences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(numerical or graphical)  to support your conclusions (as for any </a:t>
            </a:r>
            <a:r>
              <a:rPr lang="it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scientific</a:t>
            </a:r>
            <a:r>
              <a:rPr lang="it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report)</a:t>
            </a:r>
            <a:endParaRPr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10</a:t>
            </a:fld>
            <a:endParaRPr sz="16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Conclusions</a:t>
            </a:r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What you have drawn and what you learned (in short)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Blind Test Results: name of the result files and your nickname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11</a:t>
            </a:fld>
            <a:endParaRPr sz="1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Bibliography </a:t>
            </a:r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See the section References o</a:t>
            </a:r>
            <a:r>
              <a:rPr lang="it"/>
              <a:t>f the </a:t>
            </a:r>
            <a:r>
              <a:rPr lang="it">
                <a:solidFill>
                  <a:schemeClr val="dk1"/>
                </a:solidFill>
              </a:rPr>
              <a:t>file “ML-25-Report-info-...”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12</a:t>
            </a:fld>
            <a:endParaRPr sz="16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it"/>
              <a:t>Appendix - not shown in the time slot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8641"/>
              <a:buNone/>
            </a:pPr>
            <a:r>
              <a:rPr lang="it"/>
              <a:t> </a:t>
            </a:r>
            <a:r>
              <a:rPr lang="it" sz="2244"/>
              <a:t>(may be many slides, but still use a reasonable number) </a:t>
            </a:r>
            <a:endParaRPr sz="2244"/>
          </a:p>
        </p:txBody>
      </p:sp>
      <p:sp>
        <p:nvSpPr>
          <p:cNvPr id="148" name="Google Shape;148;p25"/>
          <p:cNvSpPr txBox="1">
            <a:spLocks noGrp="1"/>
          </p:cNvSpPr>
          <p:nvPr>
            <p:ph type="body" idx="1"/>
          </p:nvPr>
        </p:nvSpPr>
        <p:spPr>
          <a:xfrm>
            <a:off x="344050" y="1468650"/>
            <a:ext cx="8520600" cy="30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it"/>
              <a:t>Material that is complementary to your presentation, but not directly presented: </a:t>
            </a:r>
            <a:r>
              <a:rPr lang="it" sz="1100">
                <a:solidFill>
                  <a:schemeClr val="dk1"/>
                </a:solidFill>
              </a:rPr>
              <a:t>·</a:t>
            </a:r>
            <a:r>
              <a:rPr lang="it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it" sz="1100">
                <a:solidFill>
                  <a:schemeClr val="dk1"/>
                </a:solidFill>
              </a:rPr>
              <a:t>Use appendix for large or other tables or plots (if needed); the slides out of the limit will be not necessarily read and therefore not necessarily evaluated!!! 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it"/>
              <a:t>Can be used to answer some questions during the oral discussion of the project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it"/>
              <a:t>In the appendix you can use a smaller font (although readable. e.g. ≥11) and even smaller for tables </a:t>
            </a:r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1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 sz="1600" b="1"/>
              <a:t>13</a:t>
            </a:fld>
            <a:endParaRPr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1032</Words>
  <Application>Microsoft Office PowerPoint</Application>
  <PresentationFormat>On-screen Show (16:9)</PresentationFormat>
  <Paragraphs>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Simple Light</vt:lpstr>
      <vt:lpstr>ML 2025 Project  Slides demo (v0.1) </vt:lpstr>
      <vt:lpstr>Objectives</vt:lpstr>
      <vt:lpstr>Your contributions (may be more slides, but be schematic)</vt:lpstr>
      <vt:lpstr>Models Novelties (may be more slides)</vt:lpstr>
      <vt:lpstr>Monk Results 1 (may be more slides, but be schematic)</vt:lpstr>
      <vt:lpstr>Monk Results 2 (may be more slides, but be schematic)  </vt:lpstr>
      <vt:lpstr>CUP Validation schema: data splitting</vt:lpstr>
      <vt:lpstr>CUP Validation schema: model selection</vt:lpstr>
      <vt:lpstr>CUP Results (many slides are possible)</vt:lpstr>
      <vt:lpstr>Discussion (may be more slides) </vt:lpstr>
      <vt:lpstr>Conclusions</vt:lpstr>
      <vt:lpstr>Bibliography </vt:lpstr>
      <vt:lpstr>Appendix - not shown in the time slot  (may be many slides, but still use a reasonable number)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Lorenzo Albani</cp:lastModifiedBy>
  <cp:revision>1</cp:revision>
  <dcterms:modified xsi:type="dcterms:W3CDTF">2026-01-21T14:26:54Z</dcterms:modified>
</cp:coreProperties>
</file>